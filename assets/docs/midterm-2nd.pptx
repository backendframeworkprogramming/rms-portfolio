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7" r:id="rId11"/>
    <p:sldId id="270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6" autoAdjust="0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843550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A7E7C3-57E2-EA66-2195-ED644111A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16DE30-588A-0312-EE67-F47C8DD175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F3A756-3F3C-A4F1-4F81-65446D1321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04E927-78FE-D6B8-0ED7-4534166F06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2489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11480"/>
            <a:ext cx="11368735" cy="6035040"/>
          </a:xfrm>
          <a:prstGeom prst="rect">
            <a:avLst/>
          </a:prstGeom>
          <a:solidFill>
            <a:srgbClr val="111111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868680" y="12344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FRAMEWORK PROGRAMMING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554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D8D8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중간발표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22960" y="23317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웨어러블 로봇 디바이스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22960" y="32004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임대관리시스템</a:t>
            </a:r>
            <a:endParaRPr lang="en-US" sz="4600" dirty="0"/>
          </a:p>
        </p:txBody>
      </p:sp>
      <p:sp>
        <p:nvSpPr>
          <p:cNvPr id="7" name="Shape 5"/>
          <p:cNvSpPr/>
          <p:nvPr/>
        </p:nvSpPr>
        <p:spPr>
          <a:xfrm>
            <a:off x="868680" y="4434840"/>
            <a:ext cx="2926080" cy="0"/>
          </a:xfrm>
          <a:prstGeom prst="line">
            <a:avLst/>
          </a:prstGeom>
          <a:noFill/>
          <a:ln w="19050">
            <a:solidFill>
              <a:srgbClr val="5A5A5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868680" y="47091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3조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011680" y="466344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윤태웅</a:t>
            </a:r>
            <a:endParaRPr lang="en-US" sz="15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297680" y="466344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전민석</a:t>
            </a:r>
            <a:endParaRPr lang="en-US" sz="15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83680" y="466344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정은혜</a:t>
            </a:r>
            <a:endParaRPr lang="en-US" sz="15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869680" y="466344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김규민</a:t>
            </a:r>
            <a:endParaRPr lang="en-US" sz="15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7572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355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웨어러블 로봇 디바이스 임대관리시스템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6309360"/>
            <a:ext cx="11183112" cy="0"/>
          </a:xfrm>
          <a:prstGeom prst="line">
            <a:avLst/>
          </a:prstGeom>
          <a:noFill/>
          <a:ln w="1270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PROCESS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5488" y="640080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설계 및 설계 변경 내역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777240" y="1801368"/>
            <a:ext cx="0" cy="3401568"/>
          </a:xfrm>
          <a:prstGeom prst="line">
            <a:avLst/>
          </a:prstGeom>
          <a:noFill/>
          <a:ln w="19050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708660" y="1737360"/>
            <a:ext cx="137160" cy="137160"/>
          </a:xfrm>
          <a:prstGeom prst="ellipse">
            <a:avLst/>
          </a:prstGeom>
          <a:solidFill>
            <a:srgbClr val="111111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005840" y="164592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3/28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828800" y="1636776"/>
            <a:ext cx="50749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화면설계서 8개 분석 → DB 초안 (15개 테이블)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766560" y="1645920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교수님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08660" y="2304288"/>
            <a:ext cx="137160" cy="137160"/>
          </a:xfrm>
          <a:prstGeom prst="ellipse">
            <a:avLst/>
          </a:prstGeom>
          <a:solidFill>
            <a:srgbClr val="111111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1005840" y="2212848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4/4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828800" y="2203704"/>
            <a:ext cx="50749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공통코드 분리, is_deleted 추가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766560" y="2212848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조교님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08660" y="2871216"/>
            <a:ext cx="137160" cy="137160"/>
          </a:xfrm>
          <a:prstGeom prst="ellipse">
            <a:avLst/>
          </a:prstGeom>
          <a:solidFill>
            <a:srgbClr val="111111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1005840" y="2779776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4/11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828800" y="2770632"/>
            <a:ext cx="50749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→ model + model_version 분리, 상태 전이 규칙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766560" y="2779776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교수님·타조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08660" y="3438144"/>
            <a:ext cx="137160" cy="137160"/>
          </a:xfrm>
          <a:prstGeom prst="ellipse">
            <a:avLst/>
          </a:prstGeom>
          <a:solidFill>
            <a:srgbClr val="111111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1005840" y="3346704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4/18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828800" y="3337560"/>
            <a:ext cx="50749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URL 규칙 통일, CommonSearchRequest, 페이지네이션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766560" y="3346704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교수님·조교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08660" y="4005072"/>
            <a:ext cx="137160" cy="137160"/>
          </a:xfrm>
          <a:prstGeom prst="ellipse">
            <a:avLst/>
          </a:prstGeom>
          <a:solidFill>
            <a:srgbClr val="111111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1005840" y="3913632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4/25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1828800" y="3904488"/>
            <a:ext cx="50749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실명제, 집계 API 분리, AOP BaseEntity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766560" y="3913632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교수님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08660" y="4572000"/>
            <a:ext cx="137160" cy="137160"/>
          </a:xfrm>
          <a:prstGeom prst="ellipse">
            <a:avLst/>
          </a:prstGeom>
          <a:solidFill>
            <a:srgbClr val="111111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1005840" y="448056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5/3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1828800" y="4471416"/>
            <a:ext cx="50749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Boot 프로젝트 세팅 + 코드 구현 시작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766560" y="4480560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08660" y="5138928"/>
            <a:ext cx="137160" cy="137160"/>
          </a:xfrm>
          <a:prstGeom prst="ellipse">
            <a:avLst/>
          </a:prstGeom>
          <a:solidFill>
            <a:srgbClr val="111111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1005840" y="5047488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5/9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1828800" y="5038344"/>
            <a:ext cx="50749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MQTT 모듈 적용 + 원격 DB 전환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766560" y="5047488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조교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8549640" y="1691640"/>
            <a:ext cx="3154680" cy="4206240"/>
          </a:xfrm>
          <a:prstGeom prst="roundRect">
            <a:avLst>
              <a:gd name="adj" fmla="val 2319"/>
            </a:avLst>
          </a:prstGeom>
          <a:solidFill>
            <a:srgbClr val="F4F4F4"/>
          </a:solidFill>
          <a:ln w="12700">
            <a:solidFill>
              <a:srgbClr val="DCDCDC"/>
            </a:solidFill>
            <a:prstDash val="solid"/>
          </a:ln>
          <a:effectLst>
            <a:outerShdw blurRad="1143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8823960" y="187452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최종 결과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823960" y="242316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 → 21</a:t>
            </a:r>
            <a:endParaRPr lang="en-US" sz="3200" dirty="0"/>
          </a:p>
        </p:txBody>
      </p:sp>
      <p:sp>
        <p:nvSpPr>
          <p:cNvPr id="39" name="Text 37"/>
          <p:cNvSpPr/>
          <p:nvPr/>
        </p:nvSpPr>
        <p:spPr>
          <a:xfrm>
            <a:off x="8842248" y="2990088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테이블 (6개 추가)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8823960" y="3383280"/>
            <a:ext cx="2606040" cy="0"/>
          </a:xfrm>
          <a:prstGeom prst="line">
            <a:avLst/>
          </a:prstGeom>
          <a:noFill/>
          <a:ln w="1270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8823960" y="352044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51 → 72</a:t>
            </a:r>
            <a:endParaRPr lang="en-US" sz="3200" dirty="0"/>
          </a:p>
        </p:txBody>
      </p:sp>
      <p:sp>
        <p:nvSpPr>
          <p:cNvPr id="42" name="Text 40"/>
          <p:cNvSpPr/>
          <p:nvPr/>
        </p:nvSpPr>
        <p:spPr>
          <a:xfrm>
            <a:off x="8842248" y="4087368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명세 (21개 추가)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8823960" y="4480560"/>
            <a:ext cx="2606040" cy="0"/>
          </a:xfrm>
          <a:prstGeom prst="line">
            <a:avLst/>
          </a:prstGeom>
          <a:noFill/>
          <a:ln w="1270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8823960" y="461772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23</a:t>
            </a:r>
            <a:endParaRPr lang="en-US" sz="3200" dirty="0"/>
          </a:p>
        </p:txBody>
      </p:sp>
      <p:sp>
        <p:nvSpPr>
          <p:cNvPr id="45" name="Text 43"/>
          <p:cNvSpPr/>
          <p:nvPr/>
        </p:nvSpPr>
        <p:spPr>
          <a:xfrm>
            <a:off x="8842248" y="5184648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FK 관계 완성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7572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355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웨어러블 로봇 디바이스 임대관리시스템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6309360"/>
            <a:ext cx="11183112" cy="0"/>
          </a:xfrm>
          <a:prstGeom prst="line">
            <a:avLst/>
          </a:prstGeom>
          <a:noFill/>
          <a:ln w="1270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PROCESS · AI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5488" y="640080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AI를 활용한 설계 교차 검증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777240" y="1737360"/>
            <a:ext cx="507492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  <a:effectLst>
            <a:outerShdw blurRad="1143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201168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45920" y="2029968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교차 검증 방식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097280" y="2743200"/>
            <a:ext cx="45720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여러 AI(Opus 4.6 · Sonnet 4.6 · Gemini)에 동일 요구사항을 던져 교차 검증</a:t>
            </a:r>
            <a:endParaRPr lang="en-US" sz="13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"이 DB 설계에서 실무적으로 문제될 부분을 지적해줘" 로 각각 리뷰 요청</a:t>
            </a:r>
            <a:endParaRPr lang="en-US" sz="13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AI마다 다른 관점의 문제를 발견 → 합치면서 설계 품질을 끌어올림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263640" y="17830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발견 후 개선한 예시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6263640" y="2286000"/>
            <a:ext cx="5120640" cy="1005840"/>
          </a:xfrm>
          <a:prstGeom prst="roundRect">
            <a:avLst>
              <a:gd name="adj" fmla="val 7273"/>
            </a:avLst>
          </a:prstGeom>
          <a:solidFill>
            <a:srgbClr val="F4F4F4"/>
          </a:solidFill>
          <a:ln w="1270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6492240" y="2432304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492240" y="26517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findAll() 후 Java 필터링</a:t>
            </a:r>
            <a:endParaRPr lang="en-US" sz="115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1160" y="2670048"/>
            <a:ext cx="292608" cy="29260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9692640" y="2432304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9692640" y="265176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 쿼리 메서드로 변경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6263640" y="3493008"/>
            <a:ext cx="5120640" cy="1005840"/>
          </a:xfrm>
          <a:prstGeom prst="roundRect">
            <a:avLst>
              <a:gd name="adj" fmla="val 7273"/>
            </a:avLst>
          </a:prstGeom>
          <a:solidFill>
            <a:srgbClr val="F4F4F4"/>
          </a:solidFill>
          <a:ln w="1270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5"/>
          <p:cNvSpPr/>
          <p:nvPr/>
        </p:nvSpPr>
        <p:spPr>
          <a:xfrm>
            <a:off x="6492240" y="3639312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6492240" y="385876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배치 API 캐스팅 런타임 에러</a:t>
            </a:r>
            <a:endParaRPr lang="en-US" sz="115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1160" y="3877056"/>
            <a:ext cx="292608" cy="29260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9692640" y="3639312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9692640" y="3858768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Number.longValue() 안전 변환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6263640" y="4700016"/>
            <a:ext cx="5120640" cy="1005840"/>
          </a:xfrm>
          <a:prstGeom prst="roundRect">
            <a:avLst>
              <a:gd name="adj" fmla="val 7273"/>
            </a:avLst>
          </a:prstGeom>
          <a:solidFill>
            <a:srgbClr val="F4F4F4"/>
          </a:solidFill>
          <a:ln w="1270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0"/>
          <p:cNvSpPr/>
          <p:nvPr/>
        </p:nvSpPr>
        <p:spPr>
          <a:xfrm>
            <a:off x="6492240" y="484632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6492240" y="5065776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BiometricData is_deleted 누락</a:t>
            </a:r>
            <a:endParaRPr lang="en-US" sz="1150" dirty="0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1160" y="5084064"/>
            <a:ext cx="292608" cy="292608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9692640" y="484632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9692640" y="5065776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일관성 맞춰 컬럼 추가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7572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355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웨어러블 로봇 디바이스 임대관리시스템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6309360"/>
            <a:ext cx="11183112" cy="0"/>
          </a:xfrm>
          <a:prstGeom prst="line">
            <a:avLst/>
          </a:prstGeom>
          <a:noFill/>
          <a:ln w="1270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&amp; SCOPE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5488" y="640080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기능·API별 개발 담당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777240" y="1691640"/>
            <a:ext cx="2670048" cy="1874520"/>
          </a:xfrm>
          <a:prstGeom prst="roundRect">
            <a:avLst>
              <a:gd name="adj" fmla="val 3902"/>
            </a:avLst>
          </a:prstGeom>
          <a:solidFill>
            <a:srgbClr val="111111"/>
          </a:solidFill>
          <a:ln w="12700">
            <a:solidFill>
              <a:srgbClr val="DCDCDC"/>
            </a:solidFill>
            <a:prstDash val="solid"/>
          </a:ln>
          <a:effectLst>
            <a:outerShdw blurRad="1143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005840" y="1892808"/>
            <a:ext cx="2212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윤태웅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005840" y="235000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005840" y="2679192"/>
            <a:ext cx="2212848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005840" y="2770632"/>
            <a:ext cx="221284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화면1 디바이스 · 화면6 센터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05840" y="3108960"/>
            <a:ext cx="221284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공통구조(Entity/Repository) + 본인 API + 화면 + MQTT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593592" y="1691640"/>
            <a:ext cx="2670048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  <a:effectLst>
            <a:outerShdw blurRad="1143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3822192" y="1892808"/>
            <a:ext cx="2212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전민석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3822192" y="2679192"/>
            <a:ext cx="2212848" cy="0"/>
          </a:xfrm>
          <a:prstGeom prst="line">
            <a:avLst/>
          </a:prstGeom>
          <a:noFill/>
          <a:ln w="1270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3822192" y="2770632"/>
            <a:ext cx="221284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화면5 지점 · 화면7 부서/팀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822192" y="3108960"/>
            <a:ext cx="221284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+ Controller + 화면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409944" y="1691640"/>
            <a:ext cx="2670048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  <a:effectLst>
            <a:outerShdw blurRad="1143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6638544" y="1892808"/>
            <a:ext cx="2212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정은혜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6638544" y="2679192"/>
            <a:ext cx="2212848" cy="0"/>
          </a:xfrm>
          <a:prstGeom prst="line">
            <a:avLst/>
          </a:prstGeom>
          <a:noFill/>
          <a:ln w="1270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6638544" y="2770632"/>
            <a:ext cx="221284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화면8 직원 · 화면3 생체/응급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638544" y="3108960"/>
            <a:ext cx="221284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+ Controller + 화면 + MQTT 데이터 연동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226296" y="1691640"/>
            <a:ext cx="2670048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  <a:effectLst>
            <a:outerShdw blurRad="1143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9454896" y="1892808"/>
            <a:ext cx="2212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김규민</a:t>
            </a:r>
            <a:endParaRPr lang="en-US" sz="2100" dirty="0"/>
          </a:p>
        </p:txBody>
      </p:sp>
      <p:sp>
        <p:nvSpPr>
          <p:cNvPr id="25" name="Shape 23"/>
          <p:cNvSpPr/>
          <p:nvPr/>
        </p:nvSpPr>
        <p:spPr>
          <a:xfrm>
            <a:off x="9454896" y="2679192"/>
            <a:ext cx="2212848" cy="0"/>
          </a:xfrm>
          <a:prstGeom prst="line">
            <a:avLst/>
          </a:prstGeom>
          <a:noFill/>
          <a:ln w="1270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9454896" y="2770632"/>
            <a:ext cx="221284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화면2 임대 · 화면4 AS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454896" y="3108960"/>
            <a:ext cx="221284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+ Controller + 화면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77240" y="3840480"/>
            <a:ext cx="5394960" cy="2057400"/>
          </a:xfrm>
          <a:prstGeom prst="roundRect">
            <a:avLst>
              <a:gd name="adj" fmla="val 3556"/>
            </a:avLst>
          </a:prstGeom>
          <a:solidFill>
            <a:srgbClr val="F4F4F4"/>
          </a:solidFill>
          <a:ln w="1270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1005840" y="4005072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공통구조를 PM이 선작업한 이유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1005840" y="4389120"/>
            <a:ext cx="49377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Entity·Repository는 여러 화면이 공유하는 자원</a:t>
            </a:r>
            <a:endParaRPr lang="en-US" sz="105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DeviceRepository → 디바이스·임대·AS·생체 4개 화면에서 사용</a:t>
            </a:r>
            <a:endParaRPr lang="en-US" sz="105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각자 만들면 메서드 중복·충돌 → PM이 공통 정의</a:t>
            </a:r>
            <a:endParaRPr lang="en-US" sz="1050" dirty="0"/>
          </a:p>
          <a:p>
            <a:pPr marL="190500" indent="-190500">
              <a:buSzPct val="100000"/>
              <a:buChar char="•"/>
            </a:pPr>
            <a:r>
              <a:rPr lang="en-US" sz="10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팀원은 본인 Service + Controller + Thymeleaf 화면에 집중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309360" y="3840480"/>
            <a:ext cx="5074920" cy="2057400"/>
          </a:xfrm>
          <a:prstGeom prst="roundRect">
            <a:avLst>
              <a:gd name="adj" fmla="val 3556"/>
            </a:avLst>
          </a:prstGeom>
          <a:solidFill>
            <a:srgbClr val="F4F4F4"/>
          </a:solidFill>
          <a:ln w="1270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6537960" y="400507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협업 방식 — 폴더 분리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6537960" y="4389120"/>
            <a:ext cx="46177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이름별 물리 폴더 분리 (taewoong / minseok / Eunhye / Gyumin)</a:t>
            </a:r>
            <a:endParaRPr lang="en-US" sz="105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common/ 폴더는 PM만 수정, 팀원은 본인 폴더에서만 작업</a:t>
            </a:r>
            <a:endParaRPr lang="en-US" sz="105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branch 대신 폴더 분리로 충돌 원천 차단</a:t>
            </a:r>
            <a:endParaRPr lang="en-US" sz="1050" dirty="0"/>
          </a:p>
          <a:p>
            <a:pPr marL="190500" indent="-190500">
              <a:buSzPct val="100000"/>
              <a:buChar char="•"/>
            </a:pPr>
            <a:r>
              <a:rPr lang="en-US" sz="10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첫 사용 상황 → merge 해결보다 비즈니스 로직에 집중하는 판단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7572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355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웨어러블 로봇 디바이스 임대관리시스템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6309360"/>
            <a:ext cx="11183112" cy="0"/>
          </a:xfrm>
          <a:prstGeom prst="line">
            <a:avLst/>
          </a:prstGeom>
          <a:noFill/>
          <a:ln w="1270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5488" y="640080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프로젝트 구조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777240" y="1783080"/>
            <a:ext cx="6766560" cy="4069080"/>
          </a:xfrm>
          <a:prstGeom prst="roundRect">
            <a:avLst>
              <a:gd name="adj" fmla="val 1798"/>
            </a:avLst>
          </a:prstGeom>
          <a:solidFill>
            <a:srgbClr val="111111"/>
          </a:solidFill>
          <a:ln/>
          <a:effectLst>
            <a:outerShdw blurRad="1143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1051560" y="2011680"/>
            <a:ext cx="128016" cy="128016"/>
          </a:xfrm>
          <a:prstGeom prst="ellipse">
            <a:avLst/>
          </a:prstGeom>
          <a:solidFill>
            <a:srgbClr val="5A5A5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1307592" y="2011680"/>
            <a:ext cx="128016" cy="128016"/>
          </a:xfrm>
          <a:prstGeom prst="ellipse">
            <a:avLst/>
          </a:prstGeom>
          <a:solidFill>
            <a:srgbClr val="5A5A5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1563624" y="2011680"/>
            <a:ext cx="128016" cy="128016"/>
          </a:xfrm>
          <a:prstGeom prst="ellipse">
            <a:avLst/>
          </a:prstGeom>
          <a:solidFill>
            <a:srgbClr val="5A5A5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2103120" y="194767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 structure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51560" y="23774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src/main/java/hanyang/RentalManagementSystem/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051560" y="269290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common/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977640" y="2692908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E7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공통 — Entity · Repository · DTO · Config · Exception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051560" y="3008376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8D8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taewoong/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977640" y="3008376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E7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PM — Controller · Service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051560" y="3323844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8D8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minseok/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977640" y="3323844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E7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전민석 — Controller · Service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051560" y="363931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8D8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Eunhye/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977640" y="3639312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E7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정은혜 — Controller · Service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051560" y="395478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8D8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Gyumin/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3977640" y="395478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E7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김규민 — Controller · Service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051560" y="4585716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src/main/resources/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051560" y="4901184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8D8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templates/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3977640" y="4901184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E7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Thymeleaf HTML (9페이지)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051560" y="521665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8D8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static/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3977640" y="5216652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E7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CSS · JS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051560" y="55321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8D8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application.properties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7818120" y="1783080"/>
            <a:ext cx="3566160" cy="4069080"/>
          </a:xfrm>
          <a:prstGeom prst="roundRect">
            <a:avLst>
              <a:gd name="adj" fmla="val 2051"/>
            </a:avLst>
          </a:prstGeom>
          <a:solidFill>
            <a:srgbClr val="F4F4F4"/>
          </a:solidFill>
          <a:ln w="12700">
            <a:solidFill>
              <a:srgbClr val="DCDCDC"/>
            </a:solidFill>
            <a:prstDash val="solid"/>
          </a:ln>
          <a:effectLst>
            <a:outerShdw blurRad="1143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8046720" y="20116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폴더 분리 원칙</a:t>
            </a:r>
            <a:endParaRPr lang="en-US" sz="1500" dirty="0"/>
          </a:p>
        </p:txBody>
      </p:sp>
      <p:pic>
        <p:nvPicPr>
          <p:cNvPr id="3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2514600"/>
            <a:ext cx="310896" cy="310896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8549640" y="247802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common/</a:t>
            </a:r>
            <a:endParaRPr lang="en-US" sz="1250" dirty="0"/>
          </a:p>
        </p:txBody>
      </p:sp>
      <p:sp>
        <p:nvSpPr>
          <p:cNvPr id="33" name="Text 30"/>
          <p:cNvSpPr/>
          <p:nvPr/>
        </p:nvSpPr>
        <p:spPr>
          <a:xfrm>
            <a:off x="8549640" y="2752344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 전용 — 공유 자원만 관리</a:t>
            </a:r>
            <a:endParaRPr lang="en-US" sz="1000" dirty="0"/>
          </a:p>
        </p:txBody>
      </p:sp>
      <p:pic>
        <p:nvPicPr>
          <p:cNvPr id="3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3355848"/>
            <a:ext cx="310896" cy="310896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8549640" y="331927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개인 폴더</a:t>
            </a:r>
            <a:endParaRPr lang="en-US" sz="1250" dirty="0"/>
          </a:p>
        </p:txBody>
      </p:sp>
      <p:sp>
        <p:nvSpPr>
          <p:cNvPr id="36" name="Text 32"/>
          <p:cNvSpPr/>
          <p:nvPr/>
        </p:nvSpPr>
        <p:spPr>
          <a:xfrm>
            <a:off x="8549640" y="359359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담당자별 Controller·Service 격리</a:t>
            </a:r>
            <a:endParaRPr lang="en-US" sz="1000" dirty="0"/>
          </a:p>
        </p:txBody>
      </p:sp>
      <p:pic>
        <p:nvPicPr>
          <p:cNvPr id="3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2440" y="4197096"/>
            <a:ext cx="310896" cy="310896"/>
          </a:xfrm>
          <a:prstGeom prst="rect">
            <a:avLst/>
          </a:prstGeom>
        </p:spPr>
      </p:pic>
      <p:sp>
        <p:nvSpPr>
          <p:cNvPr id="38" name="Text 33"/>
          <p:cNvSpPr/>
          <p:nvPr/>
        </p:nvSpPr>
        <p:spPr>
          <a:xfrm>
            <a:off x="8549640" y="4160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templates/</a:t>
            </a:r>
            <a:endParaRPr lang="en-US" sz="1250" dirty="0"/>
          </a:p>
        </p:txBody>
      </p:sp>
      <p:sp>
        <p:nvSpPr>
          <p:cNvPr id="39" name="Text 34"/>
          <p:cNvSpPr/>
          <p:nvPr/>
        </p:nvSpPr>
        <p:spPr>
          <a:xfrm>
            <a:off x="8549640" y="44348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9개 화면 Thymeleaf 뷰</a:t>
            </a:r>
            <a:endParaRPr lang="en-US" sz="1000" dirty="0"/>
          </a:p>
        </p:txBody>
      </p:sp>
      <p:pic>
        <p:nvPicPr>
          <p:cNvPr id="4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2440" y="5038344"/>
            <a:ext cx="310896" cy="310896"/>
          </a:xfrm>
          <a:prstGeom prst="rect">
            <a:avLst/>
          </a:prstGeom>
        </p:spPr>
      </p:pic>
      <p:sp>
        <p:nvSpPr>
          <p:cNvPr id="41" name="Text 35"/>
          <p:cNvSpPr/>
          <p:nvPr/>
        </p:nvSpPr>
        <p:spPr>
          <a:xfrm>
            <a:off x="8549640" y="500176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충돌 차단</a:t>
            </a:r>
            <a:endParaRPr lang="en-US" sz="1250" dirty="0"/>
          </a:p>
        </p:txBody>
      </p:sp>
      <p:sp>
        <p:nvSpPr>
          <p:cNvPr id="42" name="Text 36"/>
          <p:cNvSpPr/>
          <p:nvPr/>
        </p:nvSpPr>
        <p:spPr>
          <a:xfrm>
            <a:off x="8549640" y="527608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merge conflict 원천 제거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7572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355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웨어러블 로봇 디바이스 임대관리시스템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6309360"/>
            <a:ext cx="11183112" cy="0"/>
          </a:xfrm>
          <a:prstGeom prst="line">
            <a:avLst/>
          </a:prstGeom>
          <a:noFill/>
          <a:ln w="1270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CONSISTENCY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5488" y="640080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일관성을 위한 기술 스택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77240" y="169164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공통 응답 구조 — CommonResponse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77240" y="201168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팀원 4명이 각자 API를 만들어도 프론트에서 동일하게 처리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77240" y="2377440"/>
            <a:ext cx="5303520" cy="1783080"/>
          </a:xfrm>
          <a:prstGeom prst="roundRect">
            <a:avLst>
              <a:gd name="adj" fmla="val 3077"/>
            </a:avLst>
          </a:prstGeom>
          <a:solidFill>
            <a:srgbClr val="111111"/>
          </a:solidFill>
          <a:ln/>
          <a:effectLst>
            <a:outerShdw blurRad="1143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005840" y="2523744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E7E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CommonResponse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033272" y="2880360"/>
            <a:ext cx="48006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CommonResponse.success(data);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CommonResponse.success(data, pagination);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CommonResponse.created(data);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CommonResponse.error(code, message);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" y="425196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조회 · 목록+페이징 · 등록(201) · 에러 — 한 가지 형태로 통일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355080" y="16916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BaseEntity 상속 — 감사 필드 자동화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355080" y="20116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모든 Entity가 상속받아 생성일·수정일을 일관 관리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355080" y="2377440"/>
            <a:ext cx="5029200" cy="1783080"/>
          </a:xfrm>
          <a:prstGeom prst="roundRect">
            <a:avLst>
              <a:gd name="adj" fmla="val 3077"/>
            </a:avLst>
          </a:prstGeom>
          <a:solidFill>
            <a:srgbClr val="111111"/>
          </a:solidFill>
          <a:ln/>
          <a:effectLst>
            <a:outerShdw blurRad="1143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583680" y="252374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E7E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BaseEntity.java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611112" y="2880360"/>
            <a:ext cx="452628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@EntityListeners(AuditingEntityListener.class)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abstract class BaseEntity {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@CreatedDate  LocalDateTime createdAt;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@LastModifiedDate LocalDateTime updatedAt;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55080" y="42519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createdAt / updatedAt 를 모든 테이블에 자동 적용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77240" y="4800600"/>
            <a:ext cx="10607040" cy="1051560"/>
          </a:xfrm>
          <a:prstGeom prst="roundRect">
            <a:avLst>
              <a:gd name="adj" fmla="val 6957"/>
            </a:avLst>
          </a:prstGeom>
          <a:solidFill>
            <a:srgbClr val="F4F4F4"/>
          </a:solidFill>
          <a:ln w="1270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5029200"/>
            <a:ext cx="502920" cy="50292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691640" y="5074920"/>
            <a:ext cx="9509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동일한 응답 포맷 · 동일한 페이지네이션 · 동일한 에러 처리  </a:t>
            </a:r>
            <a:r>
              <a:rPr lang="en-US" sz="13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누가 만들든 결과물의 형태가 같다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7572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355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웨어러블 로봇 디바이스 임대관리시스템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6309360"/>
            <a:ext cx="11183112" cy="0"/>
          </a:xfrm>
          <a:prstGeom prst="line">
            <a:avLst/>
          </a:prstGeom>
          <a:noFill/>
          <a:ln w="1270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5488" y="640080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성능을 위한 기술 스택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77240" y="164592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DB 조회 성능 개선 — 전체 로드 후 필터 → DB 레벨 필터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77240" y="2011680"/>
            <a:ext cx="5257800" cy="1600200"/>
          </a:xfrm>
          <a:prstGeom prst="roundRect">
            <a:avLst>
              <a:gd name="adj" fmla="val 3429"/>
            </a:avLst>
          </a:prstGeom>
          <a:solidFill>
            <a:srgbClr val="111111"/>
          </a:solidFill>
          <a:ln/>
          <a:effectLst>
            <a:outerShdw blurRad="1143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005840" y="2157984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E7E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Before — Java 필터 (느림)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033272" y="2514600"/>
            <a:ext cx="47548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C8C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deviceRepository.findAll().stream()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C8C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.filter(d -&gt; !d.getIsDeleted())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C8C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.collect(Collectors.toList());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26480" y="2011680"/>
            <a:ext cx="5257800" cy="1600200"/>
          </a:xfrm>
          <a:prstGeom prst="roundRect">
            <a:avLst>
              <a:gd name="adj" fmla="val 3429"/>
            </a:avLst>
          </a:prstGeom>
          <a:solidFill>
            <a:srgbClr val="111111"/>
          </a:solidFill>
          <a:ln/>
          <a:effectLst>
            <a:outerShdw blurRad="1143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6355080" y="2157984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E7E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After — DB 레벨 필터 (빠름)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382512" y="2514600"/>
            <a:ext cx="47548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deviceRepository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.findAllByIsDeletedFalse(pageable);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" y="384048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배치 API 안전 변환 — 캐스팅 런타임 에러 방지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77240" y="4206240"/>
            <a:ext cx="5257800" cy="1600200"/>
          </a:xfrm>
          <a:prstGeom prst="roundRect">
            <a:avLst>
              <a:gd name="adj" fmla="val 3429"/>
            </a:avLst>
          </a:prstGeom>
          <a:solidFill>
            <a:srgbClr val="111111"/>
          </a:solidFill>
          <a:ln/>
          <a:effectLst>
            <a:outerShdw blurRad="1143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1005840" y="4352544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E7E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Before — 런타임 에러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033272" y="4709160"/>
            <a:ext cx="47548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C8C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List&lt;Long&gt; ids =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C8C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(List&lt;Long&gt;) body.get("deviceIds");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7E7E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Integer → Long 캐스팅 실패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26480" y="4206240"/>
            <a:ext cx="5257800" cy="1600200"/>
          </a:xfrm>
          <a:prstGeom prst="roundRect">
            <a:avLst>
              <a:gd name="adj" fmla="val 3429"/>
            </a:avLst>
          </a:prstGeom>
          <a:solidFill>
            <a:srgbClr val="111111"/>
          </a:solidFill>
          <a:ln/>
          <a:effectLst>
            <a:outerShdw blurRad="1143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6355080" y="4352544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E7E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After — Number 안전 변환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382512" y="4709160"/>
            <a:ext cx="47548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((List&lt;?&gt;) body.get("deviceIds")).stream()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.map(o -&gt; ((Number) o).longValue())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.collect(Collectors.toList());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7572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355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웨어러블 로봇 디바이스 임대관리시스템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6309360"/>
            <a:ext cx="11183112" cy="0"/>
          </a:xfrm>
          <a:prstGeom prst="line">
            <a:avLst/>
          </a:prstGeom>
          <a:noFill/>
          <a:ln w="1270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REUSABILITY · MAINTAINABILITY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5488" y="640080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재사용성과 유지보수 용이성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777240" y="1691640"/>
            <a:ext cx="5166360" cy="1554480"/>
          </a:xfrm>
          <a:prstGeom prst="roundRect">
            <a:avLst>
              <a:gd name="adj" fmla="val 4706"/>
            </a:avLst>
          </a:prstGeom>
          <a:solidFill>
            <a:srgbClr val="F4F4F4"/>
          </a:solidFill>
          <a:ln w="1270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" y="192024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45920" y="19202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재사용성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645920" y="2331720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CommonResponse · CommonSearchRequest · GlobalExceptionHandler 전체 공통 사용 / BaseEntity 상속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217920" y="1691640"/>
            <a:ext cx="5166360" cy="1554480"/>
          </a:xfrm>
          <a:prstGeom prst="roundRect">
            <a:avLst>
              <a:gd name="adj" fmla="val 4706"/>
            </a:avLst>
          </a:prstGeom>
          <a:solidFill>
            <a:srgbClr val="F4F4F4"/>
          </a:solidFill>
          <a:ln w="1270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3952" y="192024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086600" y="19202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유지보수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7086600" y="2331720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이름별 폴더 분리로 담당 명확 · Soft Delete 복구 가능 · 공통코드 테이블로 코드 수정 없이 값 변경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777240" y="3474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SOLID 원칙 적용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777240" y="3931920"/>
            <a:ext cx="868680" cy="475488"/>
          </a:xfrm>
          <a:prstGeom prst="roundRect">
            <a:avLst>
              <a:gd name="adj" fmla="val 9615"/>
            </a:avLst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3"/>
          <p:cNvSpPr/>
          <p:nvPr/>
        </p:nvSpPr>
        <p:spPr>
          <a:xfrm>
            <a:off x="777240" y="3950208"/>
            <a:ext cx="868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SRP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1783080" y="3950208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단일 책임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3246120" y="3950208"/>
            <a:ext cx="8138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Controller / Service / Repository / ExceptionHandler 각각 하나의 책임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777240" y="4553712"/>
            <a:ext cx="868680" cy="475488"/>
          </a:xfrm>
          <a:prstGeom prst="roundRect">
            <a:avLst>
              <a:gd name="adj" fmla="val 9615"/>
            </a:avLst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7"/>
          <p:cNvSpPr/>
          <p:nvPr/>
        </p:nvSpPr>
        <p:spPr>
          <a:xfrm>
            <a:off x="777240" y="4572000"/>
            <a:ext cx="868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OCP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1783080" y="4572000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개방-폐쇄</a:t>
            </a:r>
            <a:endParaRPr lang="en-US" sz="1250" dirty="0"/>
          </a:p>
        </p:txBody>
      </p:sp>
      <p:sp>
        <p:nvSpPr>
          <p:cNvPr id="23" name="Text 19"/>
          <p:cNvSpPr/>
          <p:nvPr/>
        </p:nvSpPr>
        <p:spPr>
          <a:xfrm>
            <a:off x="3246120" y="4572000"/>
            <a:ext cx="8138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CommonResponse&lt;T&gt; 제네릭으로 확장에 열려 있음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777240" y="5175504"/>
            <a:ext cx="868680" cy="475488"/>
          </a:xfrm>
          <a:prstGeom prst="roundRect">
            <a:avLst>
              <a:gd name="adj" fmla="val 9615"/>
            </a:avLst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1"/>
          <p:cNvSpPr/>
          <p:nvPr/>
        </p:nvSpPr>
        <p:spPr>
          <a:xfrm>
            <a:off x="777240" y="5193792"/>
            <a:ext cx="868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DIP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1783080" y="5193792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의존 역전</a:t>
            </a:r>
            <a:endParaRPr lang="en-US" sz="1250" dirty="0"/>
          </a:p>
        </p:txBody>
      </p:sp>
      <p:sp>
        <p:nvSpPr>
          <p:cNvPr id="27" name="Text 23"/>
          <p:cNvSpPr/>
          <p:nvPr/>
        </p:nvSpPr>
        <p:spPr>
          <a:xfrm>
            <a:off x="3246120" y="5193792"/>
            <a:ext cx="8138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Service가 Repository 인터페이스에 의존, 구현체는 Spring이 주입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777240" y="5897880"/>
            <a:ext cx="10607040" cy="0"/>
          </a:xfrm>
          <a:prstGeom prst="roundRect">
            <a:avLst>
              <a:gd name="adj" fmla="val Infinity"/>
            </a:avLst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7572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355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웨어러블 로봇 디바이스 임대관리시스템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6309360"/>
            <a:ext cx="11183112" cy="0"/>
          </a:xfrm>
          <a:prstGeom prst="line">
            <a:avLst/>
          </a:prstGeom>
          <a:noFill/>
          <a:ln w="1270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5488" y="640080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보안을 위한 기술 스택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77240" y="164592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상태 전이 검증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77240" y="1993392"/>
            <a:ext cx="5212080" cy="1417320"/>
          </a:xfrm>
          <a:prstGeom prst="roundRect">
            <a:avLst>
              <a:gd name="adj" fmla="val 3871"/>
            </a:avLst>
          </a:prstGeom>
          <a:solidFill>
            <a:srgbClr val="111111"/>
          </a:solidFill>
          <a:ln/>
          <a:effectLst>
            <a:outerShdw blurRad="1143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033272" y="2221992"/>
            <a:ext cx="47091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validateStatusTransition("INCOMING","RENTING");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→ 허용되지 않는 전이 (에러)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INCOMING → RENTAL_READY → RENTING 만 허용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361188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SQL Injection 방지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77240" y="3959352"/>
            <a:ext cx="5212080" cy="1325880"/>
          </a:xfrm>
          <a:prstGeom prst="roundRect">
            <a:avLst>
              <a:gd name="adj" fmla="val 4138"/>
            </a:avLst>
          </a:prstGeom>
          <a:solidFill>
            <a:srgbClr val="111111"/>
          </a:solidFill>
          <a:ln/>
          <a:effectLst>
            <a:outerShdw blurRad="1143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1033272" y="4187952"/>
            <a:ext cx="47091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deviceRepository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.findByIdAndIsDeletedFalse(id);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JPA 자동 파라미터 바인딩 (? = 안전)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72200" y="1993392"/>
            <a:ext cx="5212080" cy="2194560"/>
          </a:xfrm>
          <a:prstGeom prst="roundRect">
            <a:avLst>
              <a:gd name="adj" fmla="val 3333"/>
            </a:avLst>
          </a:prstGeom>
          <a:solidFill>
            <a:srgbClr val="F4F4F4"/>
          </a:solidFill>
          <a:ln w="1270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400800" y="217627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기타 적용 사항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0" y="2606040"/>
            <a:ext cx="47548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 Delete — 물리 삭제 대신 is_deleted 플래그 (복구·감사 추적)</a:t>
            </a:r>
            <a:endParaRPr lang="en-US" sz="115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배치 API — 전체 트랜잭션, 하나라도 실패 시 전부 롤백</a:t>
            </a:r>
            <a:endParaRPr lang="en-US" sz="1150" dirty="0"/>
          </a:p>
          <a:p>
            <a:pPr marL="190500" indent="-190500">
              <a:buSzPct val="100000"/>
              <a:buChar char="•"/>
            </a:pPr>
            <a:r>
              <a:rPr lang="en-US" sz="11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XSS 방지 — Thymeleaf th:text 자동 이스케이프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72200" y="4370832"/>
            <a:ext cx="5212080" cy="914400"/>
          </a:xfrm>
          <a:prstGeom prst="roundRect">
            <a:avLst>
              <a:gd name="adj" fmla="val 7000"/>
            </a:avLst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6400800" y="4498848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향후 적용 예정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0" y="48006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인증 </a:t>
            </a:r>
            <a:r>
              <a:rPr lang="en-US" sz="115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(세션 vs 토큰 중 토큰 방식)   </a:t>
            </a: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 </a:t>
            </a:r>
            <a:r>
              <a:rPr lang="en-US" sz="115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(AWS 배포 시)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7572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355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웨어러블 로봇 디바이스 임대관리시스템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6309360"/>
            <a:ext cx="11183112" cy="0"/>
          </a:xfrm>
          <a:prstGeom prst="line">
            <a:avLst/>
          </a:prstGeom>
          <a:noFill/>
          <a:ln w="1270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5488" y="640080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개발 완성도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777240" y="1783080"/>
            <a:ext cx="3108960" cy="4069080"/>
          </a:xfrm>
          <a:prstGeom prst="roundRect">
            <a:avLst>
              <a:gd name="adj" fmla="val 2941"/>
            </a:avLst>
          </a:prstGeom>
          <a:solidFill>
            <a:srgbClr val="111111"/>
          </a:solidFill>
          <a:ln/>
          <a:effectLst>
            <a:outerShdw blurRad="1143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777240" y="21945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kern="0" spc="2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현재 진행률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274320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</a:t>
            </a:r>
            <a:r>
              <a:rPr lang="en-US" sz="3800" b="1" dirty="0">
                <a:solidFill>
                  <a:srgbClr val="9A9A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%</a:t>
            </a:r>
            <a:endParaRPr lang="en-US" sz="8800" dirty="0"/>
          </a:p>
        </p:txBody>
      </p:sp>
      <p:sp>
        <p:nvSpPr>
          <p:cNvPr id="10" name="Shape 8"/>
          <p:cNvSpPr/>
          <p:nvPr/>
        </p:nvSpPr>
        <p:spPr>
          <a:xfrm>
            <a:off x="1143000" y="4434840"/>
            <a:ext cx="2377440" cy="201168"/>
          </a:xfrm>
          <a:prstGeom prst="roundRect">
            <a:avLst>
              <a:gd name="adj" fmla="val 50000"/>
            </a:avLst>
          </a:prstGeom>
          <a:solidFill>
            <a:srgbClr val="3A3A3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1143000" y="4434840"/>
            <a:ext cx="1664208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777240" y="480060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· DB · MQTT 구현 완료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206240" y="1783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완료</a:t>
            </a:r>
            <a:endParaRPr lang="en-US" sz="15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2258568"/>
            <a:ext cx="201168" cy="201168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4526280" y="2203704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설계 + 테이블 21개 생성</a:t>
            </a:r>
            <a:endParaRPr lang="en-US" sz="11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2706624"/>
            <a:ext cx="201168" cy="20116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526280" y="265176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명세서 72개 정의</a:t>
            </a:r>
            <a:endParaRPr lang="en-US" sz="11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3154680"/>
            <a:ext cx="201168" cy="20116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526280" y="3099816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 담당 API·화면 (디바이스·센터·에러로그)</a:t>
            </a:r>
            <a:endParaRPr lang="en-US" sz="110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3602736"/>
            <a:ext cx="201168" cy="20116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526280" y="3547872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팀원 Backend — Controller·Service 전원 커밋</a:t>
            </a:r>
            <a:endParaRPr lang="en-US" sz="1100" dirty="0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4050792"/>
            <a:ext cx="201168" cy="20116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526280" y="3995928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팀원 Thymeleaf 기본 화면 개발</a:t>
            </a:r>
            <a:endParaRPr lang="en-US" sz="1100" dirty="0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4498848"/>
            <a:ext cx="201168" cy="201168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4526280" y="4443984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MQTT 모듈 적용 + DB 저장</a:t>
            </a:r>
            <a:endParaRPr lang="en-US" sz="1100" dirty="0"/>
          </a:p>
        </p:txBody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4946904"/>
            <a:ext cx="201168" cy="201168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4526280" y="489204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원격 DB 서버 연결</a:t>
            </a:r>
            <a:endParaRPr lang="en-US" sz="1100" dirty="0"/>
          </a:p>
        </p:txBody>
      </p:sp>
      <p:pic>
        <p:nvPicPr>
          <p:cNvPr id="28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5394960"/>
            <a:ext cx="201168" cy="201168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4526280" y="5340096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Postman API 등록 + 교수님 초대</a:t>
            </a:r>
            <a:endParaRPr lang="en-US" sz="1100" dirty="0"/>
          </a:p>
        </p:txBody>
      </p:sp>
      <p:sp>
        <p:nvSpPr>
          <p:cNvPr id="30" name="Shape 20"/>
          <p:cNvSpPr/>
          <p:nvPr/>
        </p:nvSpPr>
        <p:spPr>
          <a:xfrm>
            <a:off x="8183880" y="1783080"/>
            <a:ext cx="3200400" cy="4069080"/>
          </a:xfrm>
          <a:prstGeom prst="roundRect">
            <a:avLst>
              <a:gd name="adj" fmla="val 2286"/>
            </a:avLst>
          </a:prstGeom>
          <a:solidFill>
            <a:srgbClr val="F4F4F4"/>
          </a:solidFill>
          <a:ln w="12700">
            <a:solidFill>
              <a:srgbClr val="DCDCDC"/>
            </a:solidFill>
            <a:prstDash val="solid"/>
          </a:ln>
          <a:effectLst>
            <a:outerShdw blurRad="1143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1"/>
          <p:cNvSpPr/>
          <p:nvPr/>
        </p:nvSpPr>
        <p:spPr>
          <a:xfrm>
            <a:off x="8412480" y="20116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미완료</a:t>
            </a:r>
            <a:endParaRPr lang="en-US" sz="1500" dirty="0"/>
          </a:p>
        </p:txBody>
      </p:sp>
      <p:sp>
        <p:nvSpPr>
          <p:cNvPr id="32" name="Text 22"/>
          <p:cNvSpPr/>
          <p:nvPr/>
        </p:nvSpPr>
        <p:spPr>
          <a:xfrm>
            <a:off x="10058400" y="1993392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9A9A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30%</a:t>
            </a:r>
            <a:endParaRPr lang="en-US" sz="1800" dirty="0"/>
          </a:p>
        </p:txBody>
      </p:sp>
      <p:sp>
        <p:nvSpPr>
          <p:cNvPr id="33" name="Shape 23"/>
          <p:cNvSpPr/>
          <p:nvPr/>
        </p:nvSpPr>
        <p:spPr>
          <a:xfrm>
            <a:off x="8412480" y="2752344"/>
            <a:ext cx="146304" cy="14630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9A9A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24"/>
          <p:cNvSpPr/>
          <p:nvPr/>
        </p:nvSpPr>
        <p:spPr>
          <a:xfrm>
            <a:off x="8732520" y="265176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세부 동작 검증 + 에러 수정</a:t>
            </a:r>
            <a:endParaRPr lang="en-US" sz="1200" dirty="0"/>
          </a:p>
        </p:txBody>
      </p:sp>
      <p:sp>
        <p:nvSpPr>
          <p:cNvPr id="35" name="Shape 25"/>
          <p:cNvSpPr/>
          <p:nvPr/>
        </p:nvSpPr>
        <p:spPr>
          <a:xfrm>
            <a:off x="8412480" y="3712464"/>
            <a:ext cx="146304" cy="14630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9A9A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26"/>
          <p:cNvSpPr/>
          <p:nvPr/>
        </p:nvSpPr>
        <p:spPr>
          <a:xfrm>
            <a:off x="8732520" y="361188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화면설계서 대비 세부 요구사항 체크</a:t>
            </a:r>
            <a:endParaRPr lang="en-US" sz="1200" dirty="0"/>
          </a:p>
        </p:txBody>
      </p:sp>
      <p:sp>
        <p:nvSpPr>
          <p:cNvPr id="37" name="Shape 27"/>
          <p:cNvSpPr/>
          <p:nvPr/>
        </p:nvSpPr>
        <p:spPr>
          <a:xfrm>
            <a:off x="8412480" y="4672584"/>
            <a:ext cx="146304" cy="14630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9A9A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28"/>
          <p:cNvSpPr/>
          <p:nvPr/>
        </p:nvSpPr>
        <p:spPr>
          <a:xfrm>
            <a:off x="8732520" y="457200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배포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FC2171-7DD7-D39D-7B54-DE179B2B61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AFAF6B6-F71B-5C97-D234-A954F01209D7}"/>
              </a:ext>
            </a:extLst>
          </p:cNvPr>
          <p:cNvSpPr/>
          <p:nvPr/>
        </p:nvSpPr>
        <p:spPr>
          <a:xfrm>
            <a:off x="411480" y="411480"/>
            <a:ext cx="11368735" cy="6035040"/>
          </a:xfrm>
          <a:prstGeom prst="rect">
            <a:avLst/>
          </a:prstGeom>
          <a:solidFill>
            <a:srgbClr val="111111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18025A0-28B8-28D7-6659-A01A39BAF63C}"/>
              </a:ext>
            </a:extLst>
          </p:cNvPr>
          <p:cNvSpPr/>
          <p:nvPr/>
        </p:nvSpPr>
        <p:spPr>
          <a:xfrm>
            <a:off x="0" y="2194560"/>
            <a:ext cx="1219169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 &amp; A</a:t>
            </a:r>
            <a:endParaRPr lang="en-US" sz="7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8516C04-A5DB-B80B-518A-83C4D226A58C}"/>
              </a:ext>
            </a:extLst>
          </p:cNvPr>
          <p:cNvSpPr/>
          <p:nvPr/>
        </p:nvSpPr>
        <p:spPr>
          <a:xfrm>
            <a:off x="0" y="3429000"/>
            <a:ext cx="121916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B8B8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감사합니다</a:t>
            </a:r>
            <a:endParaRPr lang="en-US" sz="22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8F9DF2B4-E852-62E8-2292-56A4E0A6E0EA}"/>
              </a:ext>
            </a:extLst>
          </p:cNvPr>
          <p:cNvSpPr/>
          <p:nvPr/>
        </p:nvSpPr>
        <p:spPr>
          <a:xfrm>
            <a:off x="4632808" y="4206240"/>
            <a:ext cx="2926080" cy="0"/>
          </a:xfrm>
          <a:prstGeom prst="line">
            <a:avLst/>
          </a:prstGeom>
          <a:noFill/>
          <a:ln w="12700">
            <a:solidFill>
              <a:srgbClr val="5A5A5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47513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196</TotalTime>
  <Words>1124</Words>
  <Application>Microsoft Office PowerPoint</Application>
  <PresentationFormat>와이드스크린</PresentationFormat>
  <Paragraphs>237</Paragraphs>
  <Slides>11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5" baseType="lpstr">
      <vt:lpstr>Arial</vt:lpstr>
      <vt:lpstr>Consolas</vt:lpstr>
      <vt:lpstr>Georgia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웨어러블 로봇 디바이스 임대관리시스템 — 중간발표</dc:title>
  <dc:subject>PptxGenJS Presentation</dc:subject>
  <dc:creator>3조</dc:creator>
  <cp:lastModifiedBy>태웅 윤</cp:lastModifiedBy>
  <cp:revision>3</cp:revision>
  <dcterms:created xsi:type="dcterms:W3CDTF">2026-05-22T02:23:56Z</dcterms:created>
  <dcterms:modified xsi:type="dcterms:W3CDTF">2026-06-27T13:12:26Z</dcterms:modified>
</cp:coreProperties>
</file>